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22"/>
    <p:restoredTop sz="96301"/>
  </p:normalViewPr>
  <p:slideViewPr>
    <p:cSldViewPr snapToGrid="0">
      <p:cViewPr varScale="1">
        <p:scale>
          <a:sx n="78" d="100"/>
          <a:sy n="78" d="100"/>
        </p:scale>
        <p:origin x="184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A4A82-20A8-DAD8-8DF4-BD16FDF74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F42C7-1D06-A562-5DFA-C0201B946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7E70C-AFA2-AE04-EFB5-640C599F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112C2-1AC1-B9F9-552A-53D6CFB7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907F6-D040-CA6C-5FB5-46834221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223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A8B8-9B0E-54E4-5CC1-CED187CB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869B3-FC01-3D6B-E5F5-BBF1CF16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B036D-0EAF-CD2B-90A5-E879966AD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A4019-4031-FFD3-E6FA-2CABBD36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18A0F-2A73-E0AF-B76C-99AA0E38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201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5166-F49D-A29C-F759-B80AF67B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C1DFE-73D0-818F-2360-0EE42F800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D300-DBA3-95D3-CC46-E10A3CC0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59BFF-3DED-C40F-9A84-8579F951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C15FD-7D3F-2519-4FE9-F3EFEA62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642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5705-7719-CF16-E006-6771099A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AD9A-C0E9-1F21-A6FA-50762D5F4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DD776-0B8E-A97D-542B-406558CA9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D2A70-DDAE-CF22-FD09-D6765ACF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D2826-09EA-9BD3-70D0-2A92C76B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A49D6-B6ED-291E-2F6E-5EA09EF0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444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4950-6E62-BAA4-5B74-80D11889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7F393-4C29-79FD-3150-85DDCEFC1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2948C-B815-E90E-3A68-68D229D37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31253-F2BB-21CE-D021-681ACFDE7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20884-53EE-1A84-0240-8BE3627B9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2F022-E566-05EE-9BF0-872A68B0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47E67-8ABA-325F-D9A8-71D34D77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5159A3-A230-2FB4-4C35-1DB07C6A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6596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DE64-0E62-B4CC-AF28-684A4C08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BD54B-1080-505D-9F4E-BEBE4909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36151-7EAB-5CC3-6E09-83382E2E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B17E0-DCD1-1788-B147-6B1FC80C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646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D7BA1-35DD-F243-A384-89FDD8A4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3E561-F9F6-FF31-EDC8-25966CD2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C0D41-4C8C-FEEC-00A5-E6FD6C3B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217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CFF-F8F4-1FDE-4B8A-F2D910CC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E036-E42F-6D22-EF7A-915DDA4F0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20722-9CFB-A892-E3B8-E7502450C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15FCF-1DF9-1DDF-5FAE-F343345D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C8F86-DC26-07DD-967F-EBB0F8B4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EC24E-59F6-711F-E49B-7E0B7F29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736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DA45-2437-696D-3C21-F82FA6B3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2F7B6-6879-B5A9-8273-A7BFF8004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B776E-04E7-0205-FEC8-D1E9F8C61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CC947-45BB-EF3C-0DC2-5D8493B8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0AF64-E86A-7F72-7C91-573AC81CA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A7724-0CCB-23D5-D385-AA5F74DB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514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295-3A56-1D38-70BD-7174652D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00AA9-42C7-7412-AE09-9CC33C34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7E25D-CDF6-9F75-B2F3-DB695589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692FF-43FE-C374-F616-24996BCE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F0CA7-38F2-B1A9-75DD-49239CB3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647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54F07-8AA6-494F-AD65-4BF5A2D49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69DA9-A34F-26A6-8062-38898F9EF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7091-4D37-6198-AAB1-DDA51A61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259DB-3DA2-DD95-0EA8-829B2259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6D03-53FB-573B-0467-06FE37EE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287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49C35-E95C-FE52-EF52-B69EB4B3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A6C09-8091-CED5-99A5-9F1B2A7B6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CD216-C859-FAD3-FF2F-F4C8F58E2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E21CE-4DDF-7D48-B528-10C3DF9351FF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CCFED-9A9F-D3D9-EB5B-916F47B14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FFAE9-FC8C-58DF-E251-7D14B2FFF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A9721-CAE2-3147-868D-B65F9EDD6F2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991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DF32-4468-670E-63D4-DFF3987D2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Mt-AD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C7AE0-D005-E7E7-6857-1CABBD1DD1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Kathy</a:t>
            </a:r>
          </a:p>
        </p:txBody>
      </p:sp>
    </p:spTree>
    <p:extLst>
      <p:ext uri="{BB962C8B-B14F-4D97-AF65-F5344CB8AC3E}">
        <p14:creationId xmlns:p14="http://schemas.microsoft.com/office/powerpoint/2010/main" val="3550645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14912-6C08-33F4-A928-636E1A159BA5}"/>
              </a:ext>
            </a:extLst>
          </p:cNvPr>
          <p:cNvSpPr txBox="1"/>
          <p:nvPr/>
        </p:nvSpPr>
        <p:spPr>
          <a:xfrm>
            <a:off x="450937" y="288099"/>
            <a:ext cx="95197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400" b="1" dirty="0"/>
              <a:t>Overview</a:t>
            </a:r>
          </a:p>
          <a:p>
            <a:pPr algn="ctr"/>
            <a:endParaRPr lang="en-CN" sz="2400" dirty="0"/>
          </a:p>
          <a:p>
            <a:r>
              <a:rPr lang="en-CN" sz="2400" dirty="0"/>
              <a:t>-   How many mt-genes associated with each pathology × cell type?</a:t>
            </a:r>
          </a:p>
          <a:p>
            <a:endParaRPr lang="en-CN" sz="2400" dirty="0"/>
          </a:p>
          <a:p>
            <a:pPr marL="285750" indent="-285750">
              <a:buFontTx/>
              <a:buChar char="-"/>
            </a:pPr>
            <a:r>
              <a:rPr lang="en-CN" sz="2400" dirty="0"/>
              <a:t>What is the direction of change (up vs down)?</a:t>
            </a:r>
          </a:p>
          <a:p>
            <a:pPr marL="285750" indent="-285750">
              <a:buFontTx/>
              <a:buChar char="-"/>
            </a:pPr>
            <a:endParaRPr lang="en-CN" sz="2400" dirty="0"/>
          </a:p>
          <a:p>
            <a:pPr marL="285750" indent="-285750">
              <a:buFontTx/>
              <a:buChar char="-"/>
            </a:pPr>
            <a:r>
              <a:rPr lang="en-CN" sz="2400" dirty="0"/>
              <a:t>What are the recurrent mt-genes across pathologies?</a:t>
            </a:r>
          </a:p>
          <a:p>
            <a:pPr marL="285750" indent="-285750">
              <a:buFontTx/>
              <a:buChar char="-"/>
            </a:pPr>
            <a:endParaRPr lang="en-CN" sz="2400" dirty="0"/>
          </a:p>
          <a:p>
            <a:pPr marL="285750" indent="-285750">
              <a:buFontTx/>
              <a:buChar char="-"/>
            </a:pPr>
            <a:r>
              <a:rPr lang="en-CN" sz="2400" dirty="0"/>
              <a:t>Formal test of  sex differences in the number of significant genes</a:t>
            </a:r>
          </a:p>
        </p:txBody>
      </p:sp>
    </p:spTree>
    <p:extLst>
      <p:ext uri="{BB962C8B-B14F-4D97-AF65-F5344CB8AC3E}">
        <p14:creationId xmlns:p14="http://schemas.microsoft.com/office/powerpoint/2010/main" val="198943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A1D151-F3C3-5144-1281-A8F10E29A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398" y="0"/>
            <a:ext cx="819960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D82700-AFB1-75CD-0455-5429E9B130E6}"/>
              </a:ext>
            </a:extLst>
          </p:cNvPr>
          <p:cNvSpPr txBox="1"/>
          <p:nvPr/>
        </p:nvSpPr>
        <p:spPr>
          <a:xfrm>
            <a:off x="96520" y="166409"/>
            <a:ext cx="4037762" cy="3598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200" b="1" dirty="0"/>
              <a:t>Key takeaways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 dirty="0"/>
              <a:t>I</a:t>
            </a:r>
            <a:r>
              <a:rPr lang="en-CN" sz="2200" dirty="0"/>
              <a:t>nhibitory neurons dominate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dirty="0"/>
              <a:t>Excitatory neurons &amp; Oli show substantial signal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dirty="0"/>
              <a:t>OPC signal is focal, while Mic, Vas, T cells are sparse</a:t>
            </a:r>
          </a:p>
          <a:p>
            <a:pPr>
              <a:lnSpc>
                <a:spcPct val="150000"/>
              </a:lnSpc>
            </a:pPr>
            <a:endParaRPr lang="en-CN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7490B-4E79-D903-BC06-A49D1D6E5BF3}"/>
              </a:ext>
            </a:extLst>
          </p:cNvPr>
          <p:cNvSpPr txBox="1"/>
          <p:nvPr/>
        </p:nvSpPr>
        <p:spPr>
          <a:xfrm>
            <a:off x="96520" y="3764702"/>
            <a:ext cx="4274828" cy="2582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200" b="1" dirty="0"/>
              <a:t>Caveats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- C</a:t>
            </a:r>
            <a:r>
              <a:rPr lang="en-CN" sz="2200" dirty="0"/>
              <a:t>ounts may ignore effect size direction and gene overlap.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- D</a:t>
            </a:r>
            <a:r>
              <a:rPr lang="en-CN" sz="2200" dirty="0"/>
              <a:t>ifferences in tests per cell type can inflate counts</a:t>
            </a:r>
          </a:p>
        </p:txBody>
      </p:sp>
    </p:spTree>
    <p:extLst>
      <p:ext uri="{BB962C8B-B14F-4D97-AF65-F5344CB8AC3E}">
        <p14:creationId xmlns:p14="http://schemas.microsoft.com/office/powerpoint/2010/main" val="143923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42677A-E41A-EC3D-DDC2-0147ADBA0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139" y="0"/>
            <a:ext cx="877186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B0DA0-381B-C1F4-48C9-503FCDC1C1D8}"/>
              </a:ext>
            </a:extLst>
          </p:cNvPr>
          <p:cNvSpPr txBox="1"/>
          <p:nvPr/>
        </p:nvSpPr>
        <p:spPr>
          <a:xfrm>
            <a:off x="0" y="0"/>
            <a:ext cx="3911599" cy="5121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200" b="1" dirty="0"/>
              <a:t>Key takeaways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 b="1" dirty="0"/>
              <a:t>Cognitive-slope</a:t>
            </a:r>
            <a:r>
              <a:rPr lang="en-US" sz="2200" dirty="0"/>
              <a:t> traits skew </a:t>
            </a:r>
            <a:r>
              <a:rPr lang="en-US" sz="2200" b="1" dirty="0"/>
              <a:t>negative</a:t>
            </a:r>
            <a:r>
              <a:rPr lang="en-US" sz="2200" dirty="0"/>
              <a:t> in </a:t>
            </a:r>
            <a:r>
              <a:rPr lang="en-US" sz="2200" b="1" dirty="0"/>
              <a:t>Inh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b="1" dirty="0"/>
              <a:t>Classical histopathology </a:t>
            </a:r>
            <a:r>
              <a:rPr lang="en-CN" sz="2200" dirty="0"/>
              <a:t>(gpath/mt/plaques/tangles) skews positive in </a:t>
            </a:r>
            <a:r>
              <a:rPr lang="en-CN" sz="2200" b="1" dirty="0"/>
              <a:t>Exc &amp; Oli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b="1" dirty="0"/>
              <a:t>Mic</a:t>
            </a:r>
            <a:r>
              <a:rPr lang="en-CN" sz="2200" dirty="0"/>
              <a:t> shows mixed/weak direction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b="1" dirty="0"/>
              <a:t>Vas</a:t>
            </a:r>
            <a:r>
              <a:rPr lang="en-CN" sz="2200" dirty="0"/>
              <a:t> tends mildly positive</a:t>
            </a:r>
          </a:p>
          <a:p>
            <a:pPr>
              <a:lnSpc>
                <a:spcPct val="150000"/>
              </a:lnSpc>
            </a:pPr>
            <a:endParaRPr lang="en-CN" sz="2200" dirty="0"/>
          </a:p>
        </p:txBody>
      </p:sp>
    </p:spTree>
    <p:extLst>
      <p:ext uri="{BB962C8B-B14F-4D97-AF65-F5344CB8AC3E}">
        <p14:creationId xmlns:p14="http://schemas.microsoft.com/office/powerpoint/2010/main" val="229156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19D288-F578-50BF-F70B-611314DF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87"/>
          <a:stretch>
            <a:fillRect/>
          </a:stretch>
        </p:blipFill>
        <p:spPr>
          <a:xfrm>
            <a:off x="3403057" y="1"/>
            <a:ext cx="8788943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EF0EED-0600-9EEE-E686-DB7E6A35E696}"/>
              </a:ext>
            </a:extLst>
          </p:cNvPr>
          <p:cNvSpPr txBox="1"/>
          <p:nvPr/>
        </p:nvSpPr>
        <p:spPr>
          <a:xfrm>
            <a:off x="0" y="677335"/>
            <a:ext cx="34030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For each cell type,</a:t>
            </a:r>
          </a:p>
          <a:p>
            <a:endParaRPr lang="en-CN" sz="2400" dirty="0"/>
          </a:p>
          <a:p>
            <a:r>
              <a:rPr lang="en-US" sz="2400" dirty="0"/>
              <a:t>B</a:t>
            </a:r>
            <a:r>
              <a:rPr lang="en-CN" sz="2400" dirty="0"/>
              <a:t>ar = # of pathologies where a gene is  significant</a:t>
            </a:r>
          </a:p>
          <a:p>
            <a:endParaRPr lang="en-CN" sz="2400" dirty="0"/>
          </a:p>
          <a:p>
            <a:r>
              <a:rPr lang="en-US" sz="2400" dirty="0"/>
              <a:t>C</a:t>
            </a:r>
            <a:r>
              <a:rPr lang="en-CN" sz="2400" dirty="0"/>
              <a:t>olor = (# positive -# negative) across those hits</a:t>
            </a:r>
          </a:p>
        </p:txBody>
      </p:sp>
    </p:spTree>
    <p:extLst>
      <p:ext uri="{BB962C8B-B14F-4D97-AF65-F5344CB8AC3E}">
        <p14:creationId xmlns:p14="http://schemas.microsoft.com/office/powerpoint/2010/main" val="155984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8E7C6-AE80-A337-BAF5-13119696EE35}"/>
              </a:ext>
            </a:extLst>
          </p:cNvPr>
          <p:cNvSpPr txBox="1"/>
          <p:nvPr/>
        </p:nvSpPr>
        <p:spPr>
          <a:xfrm>
            <a:off x="0" y="0"/>
            <a:ext cx="11971867" cy="5629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200" b="1" dirty="0"/>
              <a:t>Key takeaways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 b="1" dirty="0" err="1"/>
              <a:t>Exc</a:t>
            </a:r>
            <a:r>
              <a:rPr lang="en-US" sz="2200" b="1" dirty="0"/>
              <a:t>: </a:t>
            </a:r>
            <a:r>
              <a:rPr lang="en-US" sz="2200" dirty="0"/>
              <a:t>recurrent hits are mt-encoded OXPHOS genes with consistently </a:t>
            </a:r>
            <a:r>
              <a:rPr lang="en-US" sz="2200" dirty="0">
                <a:highlight>
                  <a:srgbClr val="FFFF00"/>
                </a:highlight>
              </a:rPr>
              <a:t>positive direction </a:t>
            </a:r>
            <a:r>
              <a:rPr lang="en-US" sz="2200" dirty="0">
                <a:sym typeface="Wingdings" pitchFamily="2" charset="2"/>
              </a:rPr>
              <a:t> respiratory chain programs repeatedly associate with pathology in excitatory neurons.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 b="1" dirty="0">
                <a:sym typeface="Wingdings" pitchFamily="2" charset="2"/>
              </a:rPr>
              <a:t>Inh</a:t>
            </a:r>
            <a:r>
              <a:rPr lang="en-US" sz="2200" dirty="0">
                <a:sym typeface="Wingdings" pitchFamily="2" charset="2"/>
              </a:rPr>
              <a:t>: both </a:t>
            </a:r>
            <a:r>
              <a:rPr lang="en-US" sz="2200" b="1" dirty="0">
                <a:sym typeface="Wingdings" pitchFamily="2" charset="2"/>
              </a:rPr>
              <a:t>mt-encoded</a:t>
            </a:r>
            <a:r>
              <a:rPr lang="en-US" sz="2200" dirty="0">
                <a:sym typeface="Wingdings" pitchFamily="2" charset="2"/>
              </a:rPr>
              <a:t> and </a:t>
            </a:r>
            <a:r>
              <a:rPr lang="en-US" sz="2200" b="1" dirty="0">
                <a:sym typeface="Wingdings" pitchFamily="2" charset="2"/>
              </a:rPr>
              <a:t>nuclear mt-regulatory genes </a:t>
            </a:r>
            <a:r>
              <a:rPr lang="en-US" sz="2200" dirty="0">
                <a:sym typeface="Wingdings" pitchFamily="2" charset="2"/>
              </a:rPr>
              <a:t>recur. Mix of directions but many </a:t>
            </a:r>
            <a:r>
              <a:rPr lang="en-US" sz="2200" dirty="0">
                <a:highlight>
                  <a:srgbClr val="FFFF00"/>
                </a:highlight>
                <a:sym typeface="Wingdings" pitchFamily="2" charset="2"/>
              </a:rPr>
              <a:t>positive associations</a:t>
            </a:r>
            <a:r>
              <a:rPr lang="en-US" sz="2200" dirty="0">
                <a:sym typeface="Wingdings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b="1" dirty="0"/>
              <a:t>Oli</a:t>
            </a:r>
            <a:r>
              <a:rPr lang="en-CN" sz="2200" dirty="0"/>
              <a:t>: recurrent </a:t>
            </a:r>
            <a:r>
              <a:rPr lang="en-CN" sz="2200" b="1" dirty="0"/>
              <a:t>lipid/FAO/translation/respiration</a:t>
            </a:r>
            <a:r>
              <a:rPr lang="en-CN" sz="2200" dirty="0"/>
              <a:t> genes (nuclear) </a:t>
            </a:r>
            <a:r>
              <a:rPr lang="en-CN" sz="2200" dirty="0">
                <a:sym typeface="Wingdings" pitchFamily="2" charset="2"/>
              </a:rPr>
              <a:t> oligodendroglial mt-lipid coupling may be important.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b="1" dirty="0"/>
              <a:t>Mic/Vas/T_cells</a:t>
            </a:r>
            <a:r>
              <a:rPr lang="en-CN" sz="2200" dirty="0"/>
              <a:t>: few recurrent drivers (Mic modest glycolytic/respiratory; Vas sparse)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CN" sz="2200" dirty="0"/>
          </a:p>
          <a:p>
            <a:pPr>
              <a:lnSpc>
                <a:spcPct val="150000"/>
              </a:lnSpc>
            </a:pPr>
            <a:endParaRPr lang="en-CN" sz="2200" dirty="0"/>
          </a:p>
          <a:p>
            <a:pPr>
              <a:lnSpc>
                <a:spcPct val="150000"/>
              </a:lnSpc>
            </a:pPr>
            <a:endParaRPr lang="en-CN" sz="2200" dirty="0"/>
          </a:p>
        </p:txBody>
      </p:sp>
    </p:spTree>
    <p:extLst>
      <p:ext uri="{BB962C8B-B14F-4D97-AF65-F5344CB8AC3E}">
        <p14:creationId xmlns:p14="http://schemas.microsoft.com/office/powerpoint/2010/main" val="303425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969C56-56BA-EF0E-5BC0-284E3A0C8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073" y="604829"/>
            <a:ext cx="9134927" cy="5309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23673-D575-1CA6-A25C-DA75F4CED324}"/>
              </a:ext>
            </a:extLst>
          </p:cNvPr>
          <p:cNvSpPr txBox="1"/>
          <p:nvPr/>
        </p:nvSpPr>
        <p:spPr>
          <a:xfrm>
            <a:off x="0" y="677335"/>
            <a:ext cx="34030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For each cell type,</a:t>
            </a:r>
          </a:p>
          <a:p>
            <a:endParaRPr lang="en-CN" sz="2400" dirty="0"/>
          </a:p>
          <a:p>
            <a:r>
              <a:rPr lang="en-CN" sz="2400" dirty="0"/>
              <a:t>2×2 Fisher test on gene significant in F vs M.</a:t>
            </a:r>
          </a:p>
          <a:p>
            <a:endParaRPr lang="en-CN" sz="2400" dirty="0"/>
          </a:p>
          <a:p>
            <a:r>
              <a:rPr lang="en-CN" sz="2400" dirty="0"/>
              <a:t>Fill = log odds ratio (F v M)</a:t>
            </a:r>
          </a:p>
          <a:p>
            <a:r>
              <a:rPr lang="en-US" sz="2400" dirty="0"/>
              <a:t>R</a:t>
            </a:r>
            <a:r>
              <a:rPr lang="en-CN" sz="2400" dirty="0"/>
              <a:t>ed favors female</a:t>
            </a:r>
          </a:p>
          <a:p>
            <a:r>
              <a:rPr lang="en-CN" sz="2400" dirty="0"/>
              <a:t>Blue favors male</a:t>
            </a:r>
          </a:p>
        </p:txBody>
      </p:sp>
    </p:spTree>
    <p:extLst>
      <p:ext uri="{BB962C8B-B14F-4D97-AF65-F5344CB8AC3E}">
        <p14:creationId xmlns:p14="http://schemas.microsoft.com/office/powerpoint/2010/main" val="375343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A55D-BB61-0D39-D20A-765AEA65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4228F1-E3F4-778C-4708-29B066251979}"/>
              </a:ext>
            </a:extLst>
          </p:cNvPr>
          <p:cNvSpPr txBox="1"/>
          <p:nvPr/>
        </p:nvSpPr>
        <p:spPr>
          <a:xfrm>
            <a:off x="0" y="0"/>
            <a:ext cx="11971867" cy="5629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200" b="1" dirty="0"/>
              <a:t>Key takeaways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 b="1" dirty="0"/>
              <a:t>Inh and </a:t>
            </a:r>
            <a:r>
              <a:rPr lang="en-US" sz="2200" b="1" dirty="0" err="1"/>
              <a:t>Exc</a:t>
            </a:r>
            <a:r>
              <a:rPr lang="en-US" sz="2200" b="1" dirty="0"/>
              <a:t> strongly female-enriched 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sz="2200" dirty="0"/>
              <a:t>Very small p, large positive log-OR</a:t>
            </a:r>
            <a:endParaRPr lang="en-CN" sz="22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CN" sz="2200" b="1" dirty="0"/>
              <a:t>Oli shows male-enriched signal 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CN" sz="2200" dirty="0"/>
              <a:t>Blue, significant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200" b="1" dirty="0"/>
              <a:t>Mic</a:t>
            </a:r>
            <a:r>
              <a:rPr lang="en-CN" sz="2200" dirty="0"/>
              <a:t> weakly male-leaning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200" b="1" dirty="0"/>
              <a:t>Vas/T_cells </a:t>
            </a:r>
            <a:r>
              <a:rPr lang="en-CN" sz="2200" dirty="0"/>
              <a:t>~ null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200" dirty="0"/>
              <a:t>Suggests </a:t>
            </a:r>
            <a:r>
              <a:rPr lang="en-CN" sz="2200" b="1" dirty="0"/>
              <a:t>sex-specific vulnerability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200" dirty="0"/>
              <a:t>Female bias in neuronal mt-associations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200" dirty="0"/>
              <a:t>Male bias in oligodendroglia</a:t>
            </a:r>
          </a:p>
          <a:p>
            <a:pPr>
              <a:lnSpc>
                <a:spcPct val="150000"/>
              </a:lnSpc>
            </a:pPr>
            <a:endParaRPr lang="en-CN" sz="2200" dirty="0"/>
          </a:p>
        </p:txBody>
      </p:sp>
    </p:spTree>
    <p:extLst>
      <p:ext uri="{BB962C8B-B14F-4D97-AF65-F5344CB8AC3E}">
        <p14:creationId xmlns:p14="http://schemas.microsoft.com/office/powerpoint/2010/main" val="225585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321</Words>
  <Application>Microsoft Macintosh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Mt-AD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Kathy</dc:creator>
  <cp:lastModifiedBy>Liu, Kathy</cp:lastModifiedBy>
  <cp:revision>7</cp:revision>
  <dcterms:created xsi:type="dcterms:W3CDTF">2025-11-15T19:34:28Z</dcterms:created>
  <dcterms:modified xsi:type="dcterms:W3CDTF">2025-11-17T06:12:50Z</dcterms:modified>
</cp:coreProperties>
</file>