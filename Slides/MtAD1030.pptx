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2" r:id="rId4"/>
    <p:sldId id="258" r:id="rId5"/>
    <p:sldId id="263" r:id="rId6"/>
    <p:sldId id="259" r:id="rId7"/>
    <p:sldId id="264" r:id="rId8"/>
    <p:sldId id="260" r:id="rId9"/>
    <p:sldId id="265" r:id="rId10"/>
    <p:sldId id="261" r:id="rId11"/>
    <p:sldId id="266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204"/>
    <p:restoredTop sz="96301"/>
  </p:normalViewPr>
  <p:slideViewPr>
    <p:cSldViewPr snapToGrid="0">
      <p:cViewPr>
        <p:scale>
          <a:sx n="69" d="100"/>
          <a:sy n="69" d="100"/>
        </p:scale>
        <p:origin x="144" y="1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AD5579-1FC8-6CEB-6545-8E213614135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4D242B5-D12A-BE10-F554-D3B63F84E6A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0EF7D00-3B0B-E140-A81A-C9544CEDAB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21E9-6C7F-E047-B39B-B08A6EBDDD05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08B41A-D3F0-D416-7AF2-BCCAED9DC7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289EE16-6376-A4E0-92AD-1D8B9A61CA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2BF7F-76E9-FA4B-9CC9-A218B729B0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503669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351C9-8E08-AECB-D263-686A7F181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58E28-5FF9-5602-E8C2-0C9A7CF09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6A0DA9F-0757-D7A2-6B50-EBD89871A2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21E9-6C7F-E047-B39B-B08A6EBDDD05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C26B1C-1B2F-FB14-CFA4-FF47E48156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A44F41-1D9A-EC64-0EE1-84331FC024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2BF7F-76E9-FA4B-9CC9-A218B729B0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088372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AAFA1D-E2B6-BF85-F98A-B0027065D3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AAA223-FB3E-C79D-97A4-0FB2DC37D7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76AF46-2D1E-69F2-32CB-FCB3266AF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21E9-6C7F-E047-B39B-B08A6EBDDD05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73959C-1532-588A-E5D0-114F9BE582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3752AE-91BD-EA80-60E5-B9078ED26C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2BF7F-76E9-FA4B-9CC9-A218B729B0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1575311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EB576D-3AF5-BB4A-0274-71D137AE2D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F8EE28-3258-C545-67C7-CB5F51DFA0B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F9D3160-9874-97A5-09C8-83FFCA8585A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59608C-C8B2-8376-54E3-A85049C840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21E9-6C7F-E047-B39B-B08A6EBDDD05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D7F21-B523-7303-B949-961C53B7D8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7378FA-C1EB-A2A5-D381-6CB9A95F52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2BF7F-76E9-FA4B-9CC9-A218B729B0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391630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C81491-C215-0D51-4768-30FA25216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BD80AF-498E-5AB0-E3E0-7109F8A3C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2106C55-BE70-1296-6BD4-C623460FF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1048054-39B8-C3A3-1F67-A9BE1C5B40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ACE752D-A780-D014-4780-F00C27917E1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46A38EF-5B25-2510-8189-B246B1212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21E9-6C7F-E047-B39B-B08A6EBDDD05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1FE9CD7-0F2F-94ED-F450-6A631F7D21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A0361F7-C29F-BAFF-82E2-5FF91EA15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2BF7F-76E9-FA4B-9CC9-A218B729B0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22820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0B1C84-F699-5A4F-3AC4-9FA3C1AC3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B3A0C83-1415-B7E1-29C4-8E667B1B6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21E9-6C7F-E047-B39B-B08A6EBDDD05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C2B917D-71E9-CDE9-3048-8B0F992A0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72EC2C-BF8B-9607-CEF0-BE0575D4A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2BF7F-76E9-FA4B-9CC9-A218B729B0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669219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A34D4B-F6BE-5810-467D-97B7AC372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21E9-6C7F-E047-B39B-B08A6EBDDD05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92059FF-2ACB-E65B-07CC-82D71D7B73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BEE9F-EB2F-A99D-F402-4F652B31E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2BF7F-76E9-FA4B-9CC9-A218B729B0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4824515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7A405-0E41-D059-B02C-8AA811A18A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2BE72-BB58-5D36-01BC-ED73214006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7C686F-63E8-20DD-8189-B7F004997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DDE9C4B-0F6B-F6CE-1F43-4C65D9D15C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21E9-6C7F-E047-B39B-B08A6EBDDD05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E54761-60BC-95AE-F274-F4BE7E8198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BFB475-3F2D-41BA-1985-D851D68BAF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2BF7F-76E9-FA4B-9CC9-A218B729B0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996225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4A7FA1-1804-FA69-5A96-0E72BCAA29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1F66AC-1B91-8108-AA37-7F3DCD2D3B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1FA60B-9F62-9D73-79D0-74599E55CA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A9AC7F-18EB-A85C-694D-F44BE7DC49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21E9-6C7F-E047-B39B-B08A6EBDDD05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856ECE-A8D4-F44C-8C2C-03C6BC52C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37E4C6-8ACD-6181-72B9-D4BCCDE33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2BF7F-76E9-FA4B-9CC9-A218B729B0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1264650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97F598-2120-3275-E045-3AB784B7F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0E79C0-53CF-95F3-C28B-B522C5812B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A5B385-C49C-2A7C-0574-AE61F0BFC8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21E9-6C7F-E047-B39B-B08A6EBDDD05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4E878F-EF82-A5F7-FBD7-C4DF0A3537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F0544A-D96C-36AB-BD96-ACD3E7319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2BF7F-76E9-FA4B-9CC9-A218B729B0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3100002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72AA945-AA71-8196-809B-15FAE24F7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75AB05-1813-14D2-7C36-7E142B2B6C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EF780D-68DF-3DBC-7129-5DF989A19C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8521E9-6C7F-E047-B39B-B08A6EBDDD05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0672EB-28A9-F7DA-8AAB-B1C14A723F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2A2FF4-669D-0D5C-4145-BACC77BBB8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732BF7F-76E9-FA4B-9CC9-A218B729B0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7997750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4077B41-A288-7825-5257-CBF66707A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EC5747-B0AD-5A15-DB5E-C91E956B9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BDE18E-84AF-53F0-698E-13F8703F88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8521E9-6C7F-E047-B39B-B08A6EBDDD05}" type="datetimeFigureOut">
              <a:rPr lang="en-CN" smtClean="0"/>
              <a:t>2025/11/17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50398-A14F-45B2-AEAF-EA5BBA568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43175C-E08A-C1EE-62A7-376E1F0EA3F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732BF7F-76E9-FA4B-9CC9-A218B729B0AE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3129834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4199EC-4C4D-3240-CEBA-E1E427D5807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CN" dirty="0"/>
              <a:t>MtAD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B9A6700-A4B1-2851-6042-E67D0BEC6E0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CN" dirty="0"/>
              <a:t>Kathy</a:t>
            </a:r>
          </a:p>
        </p:txBody>
      </p:sp>
    </p:spTree>
    <p:extLst>
      <p:ext uri="{BB962C8B-B14F-4D97-AF65-F5344CB8AC3E}">
        <p14:creationId xmlns:p14="http://schemas.microsoft.com/office/powerpoint/2010/main" val="40444355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D40528-0BAB-9BE5-9D4E-ED9ECED907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7581" y="0"/>
            <a:ext cx="745839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DD5F0C1B-DB22-BC29-0D0C-61AC1CA0616F}"/>
              </a:ext>
            </a:extLst>
          </p:cNvPr>
          <p:cNvSpPr txBox="1"/>
          <p:nvPr/>
        </p:nvSpPr>
        <p:spPr>
          <a:xfrm>
            <a:off x="18892" y="385762"/>
            <a:ext cx="478155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200" b="1" dirty="0"/>
              <a:t>Mitochondrial pathways vs AD pathologies (all cells)</a:t>
            </a:r>
          </a:p>
          <a:p>
            <a:endParaRPr lang="en-CN" sz="2200" dirty="0"/>
          </a:p>
          <a:p>
            <a:r>
              <a:rPr lang="en-CN" sz="2200" dirty="0"/>
              <a:t>Heatmap of pathway-pathology associations, colored by signed                 -log10(FDR)</a:t>
            </a:r>
          </a:p>
          <a:p>
            <a:endParaRPr lang="en-CN" sz="2200" dirty="0"/>
          </a:p>
          <a:p>
            <a:r>
              <a:rPr lang="en-CN" sz="2200" dirty="0"/>
              <a:t>Rows: mito pathways</a:t>
            </a:r>
          </a:p>
          <a:p>
            <a:r>
              <a:rPr lang="en-CN" sz="2200" dirty="0"/>
              <a:t>Columns: pathology metrics</a:t>
            </a:r>
          </a:p>
        </p:txBody>
      </p:sp>
    </p:spTree>
    <p:extLst>
      <p:ext uri="{BB962C8B-B14F-4D97-AF65-F5344CB8AC3E}">
        <p14:creationId xmlns:p14="http://schemas.microsoft.com/office/powerpoint/2010/main" val="35293429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17F4AB2-2F60-EA37-9A05-10DD65D7AABA}"/>
              </a:ext>
            </a:extLst>
          </p:cNvPr>
          <p:cNvSpPr txBox="1"/>
          <p:nvPr/>
        </p:nvSpPr>
        <p:spPr>
          <a:xfrm>
            <a:off x="0" y="273795"/>
            <a:ext cx="12173108" cy="61330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2400" b="1" dirty="0"/>
              <a:t>Key takeaways</a:t>
            </a:r>
            <a:endParaRPr lang="en-CN" sz="24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400" b="1" dirty="0"/>
              <a:t>Inh</a:t>
            </a:r>
            <a:r>
              <a:rPr lang="en-CN" sz="2400" dirty="0"/>
              <a:t>: 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CN" sz="2400" dirty="0"/>
              <a:t>Robust OXPHOS/respiratory chain and translation signals across multiple pathologies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400" b="1" dirty="0"/>
              <a:t>Oli</a:t>
            </a:r>
            <a:r>
              <a:rPr lang="en-CN" sz="2400" dirty="0"/>
              <a:t>: 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CN" sz="2400" dirty="0"/>
              <a:t>Lipid catabolism/ </a:t>
            </a:r>
            <a:r>
              <a:rPr lang="el-GR" sz="2400" dirty="0"/>
              <a:t>β-</a:t>
            </a:r>
            <a:r>
              <a:rPr lang="en-US" sz="2400" dirty="0"/>
              <a:t>oxidation pathways light up for amyloid/plaque measures; several RNA-processing/translation sets move with </a:t>
            </a:r>
            <a:r>
              <a:rPr lang="en-US" sz="2400" dirty="0" err="1"/>
              <a:t>gPath</a:t>
            </a:r>
            <a:endParaRPr lang="en-US" sz="24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400" b="1" dirty="0"/>
              <a:t>Ast</a:t>
            </a:r>
            <a:r>
              <a:rPr lang="en-CN" sz="2400" dirty="0"/>
              <a:t>: 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CN" sz="2400" dirty="0"/>
              <a:t>autophagy/mitophagy terms show consistent associations (moderate strangth).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400" b="1" dirty="0"/>
              <a:t>Mic</a:t>
            </a:r>
            <a:r>
              <a:rPr lang="en-CN" sz="2400" dirty="0"/>
              <a:t>: 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CN" sz="2400" dirty="0"/>
              <a:t>sparser, but mitophagy/ROS handling pops for gPath/NFT</a:t>
            </a:r>
          </a:p>
        </p:txBody>
      </p:sp>
    </p:spTree>
    <p:extLst>
      <p:ext uri="{BB962C8B-B14F-4D97-AF65-F5344CB8AC3E}">
        <p14:creationId xmlns:p14="http://schemas.microsoft.com/office/powerpoint/2010/main" val="675941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5357F5CD-7740-4B02-AD9F-B1547B74A9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67693" y="0"/>
            <a:ext cx="687501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B6C9D5E-E5E5-611E-6EE5-80EACBDB909D}"/>
              </a:ext>
            </a:extLst>
          </p:cNvPr>
          <p:cNvSpPr txBox="1"/>
          <p:nvPr/>
        </p:nvSpPr>
        <p:spPr>
          <a:xfrm>
            <a:off x="18892" y="385762"/>
            <a:ext cx="4781554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200" b="1" dirty="0"/>
              <a:t>Sex-stratified pathway heatmap</a:t>
            </a:r>
          </a:p>
          <a:p>
            <a:endParaRPr lang="en-CN" sz="2200" dirty="0"/>
          </a:p>
          <a:p>
            <a:r>
              <a:rPr lang="en-CN" sz="2200" dirty="0"/>
              <a:t>Same heatmap layout, stratified by sex (female vs male facets)</a:t>
            </a:r>
          </a:p>
        </p:txBody>
      </p:sp>
    </p:spTree>
    <p:extLst>
      <p:ext uri="{BB962C8B-B14F-4D97-AF65-F5344CB8AC3E}">
        <p14:creationId xmlns:p14="http://schemas.microsoft.com/office/powerpoint/2010/main" val="67368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0B7EEA-68B0-9FA7-7FED-6BA753E28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3614904-278D-4EE2-C86B-AF7E9807401E}"/>
              </a:ext>
            </a:extLst>
          </p:cNvPr>
          <p:cNvSpPr txBox="1"/>
          <p:nvPr/>
        </p:nvSpPr>
        <p:spPr>
          <a:xfrm>
            <a:off x="0" y="273795"/>
            <a:ext cx="12173108" cy="55790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2400" b="1" dirty="0"/>
              <a:t>Key takeaways</a:t>
            </a:r>
            <a:endParaRPr lang="en-CN" sz="24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400" b="1" dirty="0"/>
              <a:t>Vas (female)</a:t>
            </a:r>
            <a:r>
              <a:rPr lang="en-CN" sz="2400" dirty="0"/>
              <a:t>: 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CN" sz="2400" dirty="0"/>
              <a:t>Strong OXPHOS/</a:t>
            </a:r>
            <a:r>
              <a:rPr lang="en-US" sz="2400" dirty="0"/>
              <a:t>translation/mitophagy signals across amyloid, NFT, </a:t>
            </a:r>
            <a:r>
              <a:rPr lang="en-US" sz="2400" dirty="0" err="1"/>
              <a:t>gPath</a:t>
            </a:r>
            <a:r>
              <a:rPr lang="en-US" sz="2400" dirty="0"/>
              <a:t>.</a:t>
            </a:r>
            <a:endParaRPr lang="en-CN" sz="24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400" b="1" dirty="0"/>
              <a:t>Oli (male)</a:t>
            </a:r>
            <a:r>
              <a:rPr lang="en-CN" sz="2400" dirty="0"/>
              <a:t>: 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l-GR" sz="2400" dirty="0"/>
              <a:t>β-</a:t>
            </a:r>
            <a:r>
              <a:rPr lang="en-US" sz="2400" dirty="0"/>
              <a:t>oxidation and mitophagy terms are more prominent than in females.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400" b="1" dirty="0"/>
              <a:t>Ast</a:t>
            </a:r>
            <a:r>
              <a:rPr lang="en-CN" sz="2400" dirty="0"/>
              <a:t>: 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modest sex differences—autophagy/mitophagy slightly stronger in females.</a:t>
            </a:r>
          </a:p>
          <a:p>
            <a:pPr lvl="1">
              <a:lnSpc>
                <a:spcPct val="150000"/>
              </a:lnSpc>
            </a:pPr>
            <a:endParaRPr lang="en-CN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Points to sex-specific mitochondrial remodeling with AD burden, 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especially in neuronal and myelinating lineages</a:t>
            </a:r>
          </a:p>
        </p:txBody>
      </p:sp>
    </p:spTree>
    <p:extLst>
      <p:ext uri="{BB962C8B-B14F-4D97-AF65-F5344CB8AC3E}">
        <p14:creationId xmlns:p14="http://schemas.microsoft.com/office/powerpoint/2010/main" val="30650732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4A4F66E-DA6E-4FBC-362D-A846E351A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2467" y="0"/>
            <a:ext cx="6849533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ACD796C2-6E84-8D02-2B19-A466B26F267A}"/>
              </a:ext>
            </a:extLst>
          </p:cNvPr>
          <p:cNvSpPr txBox="1"/>
          <p:nvPr/>
        </p:nvSpPr>
        <p:spPr>
          <a:xfrm>
            <a:off x="18892" y="385762"/>
            <a:ext cx="5318218" cy="178510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200" b="1" dirty="0"/>
              <a:t>Female vs Male enrichment (per pathay)</a:t>
            </a:r>
          </a:p>
          <a:p>
            <a:endParaRPr lang="en-CN" sz="2200" dirty="0"/>
          </a:p>
          <a:p>
            <a:r>
              <a:rPr lang="en-CN" sz="2200" dirty="0"/>
              <a:t>For each pathway and cell type, mean signed –log10 (FDR) in F vs M and F-M difference (bar/contrast panel)</a:t>
            </a:r>
          </a:p>
        </p:txBody>
      </p:sp>
    </p:spTree>
    <p:extLst>
      <p:ext uri="{BB962C8B-B14F-4D97-AF65-F5344CB8AC3E}">
        <p14:creationId xmlns:p14="http://schemas.microsoft.com/office/powerpoint/2010/main" val="40552105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52AFE-E209-F055-65F8-3ED1ABF57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3AE7306-2A90-C94F-D283-6F7B4A3316FF}"/>
              </a:ext>
            </a:extLst>
          </p:cNvPr>
          <p:cNvSpPr txBox="1"/>
          <p:nvPr/>
        </p:nvSpPr>
        <p:spPr>
          <a:xfrm>
            <a:off x="0" y="273795"/>
            <a:ext cx="12173108" cy="50250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2400" b="1" dirty="0"/>
              <a:t>Key takeaways</a:t>
            </a:r>
            <a:endParaRPr lang="en-CN" sz="24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400" b="1" dirty="0"/>
              <a:t>Ast</a:t>
            </a:r>
            <a:endParaRPr lang="en-CN" sz="24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Large positive F-M contrasts for respiratory chain and </a:t>
            </a:r>
            <a:r>
              <a:rPr lang="en-US" sz="2400" dirty="0" err="1"/>
              <a:t>mito</a:t>
            </a:r>
            <a:r>
              <a:rPr lang="en-US" sz="2400" dirty="0"/>
              <a:t>-translation terms.</a:t>
            </a:r>
            <a:endParaRPr lang="en-CN" sz="24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400" b="1" dirty="0"/>
              <a:t>Oli</a:t>
            </a:r>
            <a:endParaRPr lang="en-CN" sz="24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Negative F-M contrasts for </a:t>
            </a:r>
            <a:r>
              <a:rPr lang="el-GR" sz="2400" dirty="0"/>
              <a:t>β-</a:t>
            </a:r>
            <a:r>
              <a:rPr lang="en-US" sz="2400" dirty="0"/>
              <a:t>oxidation/mitophagy (male-biased).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endParaRPr lang="en-US" sz="24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endParaRPr lang="en-US" sz="2400" dirty="0"/>
          </a:p>
          <a:p>
            <a:pPr lvl="1">
              <a:lnSpc>
                <a:spcPct val="150000"/>
              </a:lnSpc>
            </a:pPr>
            <a:r>
              <a:rPr lang="en-US" sz="2400" dirty="0"/>
              <a:t>neurons (F) &gt;&gt; neurons (M)</a:t>
            </a:r>
          </a:p>
          <a:p>
            <a:pPr lvl="1">
              <a:lnSpc>
                <a:spcPct val="150000"/>
              </a:lnSpc>
            </a:pPr>
            <a:r>
              <a:rPr lang="en-US" sz="2400" dirty="0"/>
              <a:t>Oli flips direction</a:t>
            </a:r>
          </a:p>
        </p:txBody>
      </p:sp>
    </p:spTree>
    <p:extLst>
      <p:ext uri="{BB962C8B-B14F-4D97-AF65-F5344CB8AC3E}">
        <p14:creationId xmlns:p14="http://schemas.microsoft.com/office/powerpoint/2010/main" val="1005876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71A316F-A1ED-1856-0252-83DD9B55F7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5523" y="0"/>
            <a:ext cx="6866477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0955575-0891-511E-8158-605E3E1E5DC6}"/>
              </a:ext>
            </a:extLst>
          </p:cNvPr>
          <p:cNvSpPr txBox="1"/>
          <p:nvPr/>
        </p:nvSpPr>
        <p:spPr>
          <a:xfrm>
            <a:off x="18892" y="385762"/>
            <a:ext cx="5318218" cy="43088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200" b="1" dirty="0"/>
              <a:t>Sex </a:t>
            </a:r>
            <a:r>
              <a:rPr lang="en-US" sz="2200" b="1" dirty="0"/>
              <a:t>× Pathology interactions — top pathways</a:t>
            </a:r>
          </a:p>
          <a:p>
            <a:endParaRPr lang="en-CN" sz="2200" dirty="0"/>
          </a:p>
          <a:p>
            <a:endParaRPr lang="en-CN" sz="2200" dirty="0"/>
          </a:p>
          <a:p>
            <a:r>
              <a:rPr lang="en-US" sz="2200" dirty="0"/>
              <a:t>Female </a:t>
            </a:r>
            <a:r>
              <a:rPr lang="en-US" sz="2400" dirty="0"/>
              <a:t>slopes are steeper for neuronal OXPHOS/translation</a:t>
            </a:r>
          </a:p>
          <a:p>
            <a:endParaRPr lang="en-US" sz="2400" dirty="0"/>
          </a:p>
          <a:p>
            <a:r>
              <a:rPr lang="en-US" sz="2400" dirty="0"/>
              <a:t>male slopes steeper for Oli </a:t>
            </a:r>
            <a:r>
              <a:rPr lang="el-GR" sz="2400" dirty="0"/>
              <a:t>β-</a:t>
            </a:r>
            <a:r>
              <a:rPr lang="en-US" sz="2400" dirty="0"/>
              <a:t>oxidation and mitophagy. </a:t>
            </a:r>
          </a:p>
          <a:p>
            <a:endParaRPr lang="en-CN" sz="2200" dirty="0"/>
          </a:p>
          <a:p>
            <a:endParaRPr lang="en-CN" sz="2200" dirty="0"/>
          </a:p>
          <a:p>
            <a:endParaRPr lang="en-CN" sz="2200" dirty="0"/>
          </a:p>
        </p:txBody>
      </p:sp>
    </p:spTree>
    <p:extLst>
      <p:ext uri="{BB962C8B-B14F-4D97-AF65-F5344CB8AC3E}">
        <p14:creationId xmlns:p14="http://schemas.microsoft.com/office/powerpoint/2010/main" val="24094328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731323-5E47-950B-34D5-B6D2BB0541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5E5609C-5CEB-C97B-3B1B-6A2F5EDB64BC}"/>
              </a:ext>
            </a:extLst>
          </p:cNvPr>
          <p:cNvSpPr txBox="1"/>
          <p:nvPr/>
        </p:nvSpPr>
        <p:spPr>
          <a:xfrm>
            <a:off x="0" y="273795"/>
            <a:ext cx="12173108" cy="39170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2400" b="1" dirty="0"/>
              <a:t>Key takeaways</a:t>
            </a:r>
            <a:endParaRPr lang="en-CN" sz="24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400" b="1" dirty="0"/>
              <a:t>Ast</a:t>
            </a:r>
            <a:endParaRPr lang="en-CN" sz="24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Interaction favors females for electron transport/translation sets.</a:t>
            </a:r>
            <a:endParaRPr lang="en-CN" sz="24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400" b="1" dirty="0"/>
              <a:t>Oli</a:t>
            </a:r>
            <a:endParaRPr lang="en-CN" sz="24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Interaction favors males for </a:t>
            </a:r>
            <a:r>
              <a:rPr lang="el-GR" sz="2400" dirty="0"/>
              <a:t>β-</a:t>
            </a:r>
            <a:r>
              <a:rPr lang="en-US" sz="2400" dirty="0"/>
              <a:t>oxidation and mitophagy terms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400" b="1" dirty="0"/>
              <a:t>Vas</a:t>
            </a:r>
            <a:endParaRPr lang="en-CN" sz="24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Fewer but coherent signals (ATP synthase/PMF terms show male-leaning interaction).</a:t>
            </a:r>
          </a:p>
        </p:txBody>
      </p:sp>
    </p:spTree>
    <p:extLst>
      <p:ext uri="{BB962C8B-B14F-4D97-AF65-F5344CB8AC3E}">
        <p14:creationId xmlns:p14="http://schemas.microsoft.com/office/powerpoint/2010/main" val="329728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3D51A752-01AC-950F-E6D3-4B7DDFFE7EF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60441" y="1"/>
            <a:ext cx="9131560" cy="686176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2AA2154-5936-60B4-2A84-909A8854C0CC}"/>
              </a:ext>
            </a:extLst>
          </p:cNvPr>
          <p:cNvSpPr txBox="1"/>
          <p:nvPr/>
        </p:nvSpPr>
        <p:spPr>
          <a:xfrm>
            <a:off x="18892" y="385762"/>
            <a:ext cx="2910920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CN" sz="2200" b="1" dirty="0"/>
              <a:t>Leading genes behind pathway hits</a:t>
            </a:r>
            <a:endParaRPr lang="en-CN" sz="2200" dirty="0"/>
          </a:p>
          <a:p>
            <a:endParaRPr lang="en-CN" sz="2200" dirty="0"/>
          </a:p>
          <a:p>
            <a:r>
              <a:rPr lang="en-US" sz="2200" dirty="0"/>
              <a:t>Top genes with the highest agreement (fraction of pathologies for which the gene aligned in sign with pathway) and evidence counts (n)</a:t>
            </a:r>
            <a:endParaRPr lang="en-US" sz="2400" dirty="0"/>
          </a:p>
          <a:p>
            <a:endParaRPr lang="en-CN" sz="2200" dirty="0"/>
          </a:p>
          <a:p>
            <a:endParaRPr lang="en-CN" sz="2200" dirty="0"/>
          </a:p>
          <a:p>
            <a:endParaRPr lang="en-CN" sz="2200" dirty="0"/>
          </a:p>
        </p:txBody>
      </p:sp>
    </p:spTree>
    <p:extLst>
      <p:ext uri="{BB962C8B-B14F-4D97-AF65-F5344CB8AC3E}">
        <p14:creationId xmlns:p14="http://schemas.microsoft.com/office/powerpoint/2010/main" val="34007875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70CCD3-27F5-B54F-9CC6-9CD92453D4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5F9B4D3-6C3B-131D-8AF6-40200A48DA27}"/>
              </a:ext>
            </a:extLst>
          </p:cNvPr>
          <p:cNvSpPr txBox="1"/>
          <p:nvPr/>
        </p:nvSpPr>
        <p:spPr>
          <a:xfrm>
            <a:off x="0" y="273795"/>
            <a:ext cx="12173108" cy="66870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CN" sz="2400" b="1" dirty="0"/>
              <a:t>Key takeaways</a:t>
            </a:r>
            <a:endParaRPr lang="en-CN" sz="24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400" b="1" dirty="0"/>
              <a:t>Ast</a:t>
            </a:r>
            <a:endParaRPr lang="en-CN" sz="24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Autophagy/mitophagy regulators (BCL2/BNIP3/BAD, MAPK-related) show high agreement.</a:t>
            </a:r>
            <a:endParaRPr lang="en-CN" sz="2400" dirty="0"/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400" b="1" dirty="0"/>
              <a:t>Oli</a:t>
            </a:r>
            <a:endParaRPr lang="en-CN" sz="24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ACADM/ACSL1/ACOT family, AMACR, ALDHs (canonical fatty-acid </a:t>
            </a:r>
            <a:r>
              <a:rPr lang="el-GR" sz="2400" dirty="0"/>
              <a:t>β-</a:t>
            </a:r>
            <a:r>
              <a:rPr lang="en-US" sz="2400" dirty="0"/>
              <a:t>oxidation/cholesterol side-chain enzymes) lead “positive regulation of mitophagy/FAO” pathways.</a:t>
            </a:r>
          </a:p>
          <a:p>
            <a:pPr marL="342900" indent="-342900">
              <a:lnSpc>
                <a:spcPct val="150000"/>
              </a:lnSpc>
              <a:buFontTx/>
              <a:buChar char="-"/>
            </a:pPr>
            <a:r>
              <a:rPr lang="en-CN" sz="2400" b="1" dirty="0"/>
              <a:t>Vas</a:t>
            </a:r>
            <a:endParaRPr lang="en-CN" sz="2400" dirty="0"/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r>
              <a:rPr lang="en-US" sz="2400" dirty="0"/>
              <a:t>Mitochondrial RNA processing/degradation genes (GTPBP3, HSPA, SESN2) drive signals.</a:t>
            </a:r>
          </a:p>
          <a:p>
            <a:pPr marL="800100" lvl="1" indent="-342900">
              <a:lnSpc>
                <a:spcPct val="150000"/>
              </a:lnSpc>
              <a:buFontTx/>
              <a:buChar char="-"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5095823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353</TotalTime>
  <Words>416</Words>
  <Application>Microsoft Macintosh PowerPoint</Application>
  <PresentationFormat>Widescreen</PresentationFormat>
  <Paragraphs>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Aptos</vt:lpstr>
      <vt:lpstr>Aptos Display</vt:lpstr>
      <vt:lpstr>Arial</vt:lpstr>
      <vt:lpstr>Office Theme</vt:lpstr>
      <vt:lpstr>MtAD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Liu, Kathy</dc:creator>
  <cp:lastModifiedBy>Liu, Kathy</cp:lastModifiedBy>
  <cp:revision>14</cp:revision>
  <dcterms:created xsi:type="dcterms:W3CDTF">2025-11-15T22:49:41Z</dcterms:created>
  <dcterms:modified xsi:type="dcterms:W3CDTF">2025-11-17T06:58:37Z</dcterms:modified>
</cp:coreProperties>
</file>