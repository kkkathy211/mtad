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7" r:id="rId3"/>
    <p:sldId id="258" r:id="rId4"/>
    <p:sldId id="259" r:id="rId5"/>
    <p:sldId id="295" r:id="rId6"/>
    <p:sldId id="296" r:id="rId7"/>
    <p:sldId id="292" r:id="rId8"/>
    <p:sldId id="294" r:id="rId9"/>
    <p:sldId id="260" r:id="rId10"/>
    <p:sldId id="261" r:id="rId11"/>
    <p:sldId id="262" r:id="rId12"/>
    <p:sldId id="270" r:id="rId13"/>
    <p:sldId id="263" r:id="rId14"/>
    <p:sldId id="271" r:id="rId15"/>
    <p:sldId id="264" r:id="rId16"/>
    <p:sldId id="272" r:id="rId17"/>
    <p:sldId id="265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57" r:id="rId38"/>
    <p:sldId id="269" r:id="rId39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25"/>
    <p:restoredTop sz="96301"/>
  </p:normalViewPr>
  <p:slideViewPr>
    <p:cSldViewPr snapToGrid="0">
      <p:cViewPr varScale="1">
        <p:scale>
          <a:sx n="76" d="100"/>
          <a:sy n="76" d="100"/>
        </p:scale>
        <p:origin x="208" y="1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804C2-2D14-7632-392A-C809E593CB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CCFBB0-0EC9-93C3-C7D1-E313607C8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CB7C9-53ED-BC03-C805-AAD650A23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8BAD-991E-CD41-8326-FFE18F7F7222}" type="datetimeFigureOut">
              <a:rPr lang="en-CN" smtClean="0"/>
              <a:t>2025/11/15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5A90E-502B-380A-CE0F-C1C063690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C0D8C-7772-ECBB-FC66-FA9877394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8AE77-587D-A44A-AFC6-A87243DB219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80724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94307-0C65-2766-BE57-D0ADFFBE8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30503-741B-6EE9-C1C4-0D284AD4B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23356-B65A-0F29-8FC5-D8CBCFF0A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8BAD-991E-CD41-8326-FFE18F7F7222}" type="datetimeFigureOut">
              <a:rPr lang="en-CN" smtClean="0"/>
              <a:t>2025/11/15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E235C-D792-3963-3849-5C4B3BE79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F0731-AFF0-0E5C-C97D-29248483E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8AE77-587D-A44A-AFC6-A87243DB219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06782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B2806-D046-47FB-05F6-B179EBFE8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C5E61-8B9E-7BC6-9D3A-CE030A3D5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8F650-17D6-C541-5787-8E85026CD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8BAD-991E-CD41-8326-FFE18F7F7222}" type="datetimeFigureOut">
              <a:rPr lang="en-CN" smtClean="0"/>
              <a:t>2025/11/15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20D8D-7ED8-CDE8-916E-C2630E74E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7F48A-416E-BCD4-2078-09C9DC62D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8AE77-587D-A44A-AFC6-A87243DB219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67818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A2321-36B0-48EB-D9F2-BA9959DBA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0DA12-B654-0213-E961-827CAE551D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CAE0B6-BBCC-DDE4-BE82-3B23AC60A0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FD9709-AE4B-0643-DF53-BFAE9B346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8BAD-991E-CD41-8326-FFE18F7F7222}" type="datetimeFigureOut">
              <a:rPr lang="en-CN" smtClean="0"/>
              <a:t>2025/11/15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899DEC-6D7C-7950-F758-A4621D9CD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36AA1-5925-5A47-E306-D57DD4977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8AE77-587D-A44A-AFC6-A87243DB219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2630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6B464-CE71-CC6D-D0D9-ECC17DFEB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2D4D75-A4E7-23B1-2AE8-5A11D461F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5B2798-BD15-CD55-FE35-C1C0DBBC8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9ABFB5-CB66-50A2-040C-6C7AEE9DE3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D319B9-19BC-CEF0-9EE6-4B462F4995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180DED-5CD0-6157-68E4-DFD7DE553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8BAD-991E-CD41-8326-FFE18F7F7222}" type="datetimeFigureOut">
              <a:rPr lang="en-CN" smtClean="0"/>
              <a:t>2025/11/15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4F8561-C0C5-84A5-7A39-8DB298732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1E33B2-2D8E-D138-86E1-00954A0BB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8AE77-587D-A44A-AFC6-A87243DB219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24908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B330B-3C85-8DE1-45F9-4DA384FE2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1135-7352-F046-8D09-453DF79D8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8BAD-991E-CD41-8326-FFE18F7F7222}" type="datetimeFigureOut">
              <a:rPr lang="en-CN" smtClean="0"/>
              <a:t>2025/11/15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CE3-01AF-3C5F-91D7-ABDF8098A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D046E9-B209-75C2-3322-9F1486B49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8AE77-587D-A44A-AFC6-A87243DB219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23400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9E8FB0-0829-214D-21FA-915B152DE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8BAD-991E-CD41-8326-FFE18F7F7222}" type="datetimeFigureOut">
              <a:rPr lang="en-CN" smtClean="0"/>
              <a:t>2025/11/15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1E7C2B-DF3A-EF49-5CA5-623206B4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EB1EF-62FF-AE95-C3E1-E566E7826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8AE77-587D-A44A-AFC6-A87243DB219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89922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486E6-39C5-EB00-5C6E-FA6A9C7CA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E49EA-9749-54D5-591D-C7FA6F71F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432587-62E4-49C9-4242-E47A456C1E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BB1A1-D28D-6D96-0054-E20B14968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8BAD-991E-CD41-8326-FFE18F7F7222}" type="datetimeFigureOut">
              <a:rPr lang="en-CN" smtClean="0"/>
              <a:t>2025/11/15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817074-B58A-3B38-2D42-2FC83D8E7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FFF592-CA55-F59D-9BFE-DAA48C8F0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8AE77-587D-A44A-AFC6-A87243DB219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43795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6D0CA-CB14-6A14-7376-86F48D71D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6CDE16-AC83-CC87-8435-8FC9E92D76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C37B91-36AD-B3AE-84B1-F2EF51D17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38223-F00E-4B18-046C-9DE14E151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8BAD-991E-CD41-8326-FFE18F7F7222}" type="datetimeFigureOut">
              <a:rPr lang="en-CN" smtClean="0"/>
              <a:t>2025/11/15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ADF09-33D2-480A-9B49-472E3F72B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8EF29E-BF0C-A351-9022-DF5898E91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8AE77-587D-A44A-AFC6-A87243DB219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34314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D186D-FEAE-9153-7350-BFCB5720A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D4997-9D79-8DD9-C509-04E55C6C1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45198-A291-903B-3A54-FE4692F90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8BAD-991E-CD41-8326-FFE18F7F7222}" type="datetimeFigureOut">
              <a:rPr lang="en-CN" smtClean="0"/>
              <a:t>2025/11/15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EB753-0F16-5AAA-EA59-97D3841E2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DE466-4CA5-E178-5661-44F14B57E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8AE77-587D-A44A-AFC6-A87243DB219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91031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47CE08-AA5F-04AF-40B4-B7C19D8ACE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15BFC7-71B9-58D0-9C0D-11D4B4AA7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C4BA5-09A3-5B5B-16BC-0EB54EFEF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8BAD-991E-CD41-8326-FFE18F7F7222}" type="datetimeFigureOut">
              <a:rPr lang="en-CN" smtClean="0"/>
              <a:t>2025/11/15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3A74A-34A4-CEF5-2320-465432A79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60B66-6170-A8B6-E2C5-CF75AEA15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8AE77-587D-A44A-AFC6-A87243DB219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2355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EA56BC-23CF-6F8F-6CDF-055286572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A6FE7-C347-678F-B490-56F1227D0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EB1AF-40FE-D2EC-D65F-20B3C44527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558BAD-991E-CD41-8326-FFE18F7F7222}" type="datetimeFigureOut">
              <a:rPr lang="en-CN" smtClean="0"/>
              <a:t>2025/11/15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1999E-7325-53BB-2C5D-0347BCC83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54838-59F1-4E65-D60E-8D5FB32C56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08AE77-587D-A44A-AFC6-A87243DB219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06608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E8FB5-9D16-10DC-66E6-3D8DAEA7F7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N" dirty="0"/>
              <a:t>Mt-AD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B1B1A4-75A5-4C81-0BB2-7F45C4EE64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N" dirty="0"/>
              <a:t>Oct.1 2025</a:t>
            </a:r>
          </a:p>
          <a:p>
            <a:r>
              <a:rPr lang="en-CN" dirty="0"/>
              <a:t>Kathy</a:t>
            </a:r>
          </a:p>
        </p:txBody>
      </p:sp>
    </p:spTree>
    <p:extLst>
      <p:ext uri="{BB962C8B-B14F-4D97-AF65-F5344CB8AC3E}">
        <p14:creationId xmlns:p14="http://schemas.microsoft.com/office/powerpoint/2010/main" val="3119208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201393-DFDF-09E3-FBC8-0C2CFF936D71}"/>
              </a:ext>
            </a:extLst>
          </p:cNvPr>
          <p:cNvSpPr txBox="1"/>
          <p:nvPr/>
        </p:nvSpPr>
        <p:spPr>
          <a:xfrm>
            <a:off x="347237" y="558464"/>
            <a:ext cx="1149752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dirty="0"/>
              <a:t>Overview</a:t>
            </a:r>
          </a:p>
          <a:p>
            <a:endParaRPr lang="en-CN" sz="2400" dirty="0"/>
          </a:p>
          <a:p>
            <a:r>
              <a:rPr lang="en-CN" sz="2400" dirty="0"/>
              <a:t>Data:</a:t>
            </a:r>
          </a:p>
          <a:p>
            <a:pPr marL="342900" indent="-342900">
              <a:buFontTx/>
              <a:buChar char="-"/>
            </a:pPr>
            <a:r>
              <a:rPr lang="en-CN" sz="2400" dirty="0"/>
              <a:t>snRNA-seq ROSMAP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A</a:t>
            </a:r>
            <a:r>
              <a:rPr lang="en-CN" sz="2400" dirty="0"/>
              <a:t>ssociation of mt-gene effects with neuropathology &amp; cognition outcomes</a:t>
            </a:r>
          </a:p>
          <a:p>
            <a:pPr marL="342900" indent="-342900">
              <a:buFontTx/>
              <a:buChar char="-"/>
            </a:pPr>
            <a:endParaRPr lang="en-CN" sz="2400" dirty="0"/>
          </a:p>
          <a:p>
            <a:r>
              <a:rPr lang="en-CN" sz="2400" dirty="0"/>
              <a:t>Scope today:</a:t>
            </a:r>
          </a:p>
          <a:p>
            <a:pPr marL="342900" indent="-342900">
              <a:buFontTx/>
              <a:buChar char="-"/>
            </a:pPr>
            <a:r>
              <a:rPr lang="en-CN" sz="2400" dirty="0"/>
              <a:t>all-pathway overview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P</a:t>
            </a:r>
            <a:r>
              <a:rPr lang="en-CN" sz="2400" dirty="0"/>
              <a:t>er-pathology heatmaps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S</a:t>
            </a:r>
            <a:r>
              <a:rPr lang="en-CN" sz="2400" dirty="0"/>
              <a:t>ex stratification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R</a:t>
            </a:r>
            <a:r>
              <a:rPr lang="en-CN" sz="2400" dirty="0"/>
              <a:t>ecurrent genes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P</a:t>
            </a:r>
            <a:r>
              <a:rPr lang="en-CN" sz="2400" dirty="0"/>
              <a:t>athway-level contrasts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M</a:t>
            </a:r>
            <a:r>
              <a:rPr lang="en-CN" sz="2400" dirty="0"/>
              <a:t>t-pathway score workflow</a:t>
            </a:r>
          </a:p>
          <a:p>
            <a:endParaRPr lang="en-CN" sz="2400" dirty="0"/>
          </a:p>
          <a:p>
            <a:r>
              <a:rPr lang="en-CN" sz="2400" dirty="0"/>
              <a:t>* All are exploratory</a:t>
            </a:r>
          </a:p>
        </p:txBody>
      </p:sp>
    </p:spTree>
    <p:extLst>
      <p:ext uri="{BB962C8B-B14F-4D97-AF65-F5344CB8AC3E}">
        <p14:creationId xmlns:p14="http://schemas.microsoft.com/office/powerpoint/2010/main" val="2330376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9FDA1-375F-090A-4DD4-F330C760F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E4613D-17A2-71BC-5E8B-86EDC6BC9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30" y="478748"/>
            <a:ext cx="11080939" cy="6264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3ADC46-3D65-4CE4-1F0D-4E0F3E2AFD3E}"/>
              </a:ext>
            </a:extLst>
          </p:cNvPr>
          <p:cNvSpPr txBox="1"/>
          <p:nvPr/>
        </p:nvSpPr>
        <p:spPr>
          <a:xfrm>
            <a:off x="135913" y="0"/>
            <a:ext cx="17277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200" dirty="0">
                <a:highlight>
                  <a:srgbClr val="FFFF00"/>
                </a:highlight>
              </a:rPr>
              <a:t>All pathways</a:t>
            </a:r>
          </a:p>
        </p:txBody>
      </p:sp>
    </p:spTree>
    <p:extLst>
      <p:ext uri="{BB962C8B-B14F-4D97-AF65-F5344CB8AC3E}">
        <p14:creationId xmlns:p14="http://schemas.microsoft.com/office/powerpoint/2010/main" val="631692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E6E1A-57B4-37B1-72C3-2ABE3EE48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AD42BB-4212-458C-2D81-9F1C6646BEB3}"/>
              </a:ext>
            </a:extLst>
          </p:cNvPr>
          <p:cNvSpPr txBox="1"/>
          <p:nvPr/>
        </p:nvSpPr>
        <p:spPr>
          <a:xfrm>
            <a:off x="135913" y="0"/>
            <a:ext cx="17277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200" dirty="0">
                <a:highlight>
                  <a:srgbClr val="FFFF00"/>
                </a:highlight>
              </a:rPr>
              <a:t>All pathways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729938-7DC3-33DC-5D4C-D88C5201B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61" y="540782"/>
            <a:ext cx="11646678" cy="624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393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F98C6C-EB07-8649-403D-02E1DF00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750" y="4248"/>
            <a:ext cx="9588500" cy="685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861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48E15CF-DE9C-FB36-D7A1-44D0C8492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610"/>
            <a:ext cx="12175843" cy="6586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633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9D5878-5824-7337-5A22-378E83A6EE20}"/>
              </a:ext>
            </a:extLst>
          </p:cNvPr>
          <p:cNvSpPr txBox="1"/>
          <p:nvPr/>
        </p:nvSpPr>
        <p:spPr>
          <a:xfrm>
            <a:off x="135913" y="0"/>
            <a:ext cx="17277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200" dirty="0">
                <a:highlight>
                  <a:srgbClr val="FFFF00"/>
                </a:highlight>
              </a:rPr>
              <a:t>All pathways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DF0BA0-DF4C-EB20-9C7D-96583FACF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406" y="432289"/>
            <a:ext cx="10443188" cy="642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70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998B7D-2EAC-CC63-CEB8-E3135BEC67AC}"/>
              </a:ext>
            </a:extLst>
          </p:cNvPr>
          <p:cNvSpPr txBox="1"/>
          <p:nvPr/>
        </p:nvSpPr>
        <p:spPr>
          <a:xfrm>
            <a:off x="4875153" y="2967335"/>
            <a:ext cx="24416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/>
              <a:t>Pathway Specific</a:t>
            </a:r>
          </a:p>
        </p:txBody>
      </p:sp>
    </p:spTree>
    <p:extLst>
      <p:ext uri="{BB962C8B-B14F-4D97-AF65-F5344CB8AC3E}">
        <p14:creationId xmlns:p14="http://schemas.microsoft.com/office/powerpoint/2010/main" val="2656445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E772A-C760-333B-C595-4885A7EDF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6921D54-8D1E-6980-3650-105E87EE6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51" y="860421"/>
            <a:ext cx="11603298" cy="56215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0CE1E9-C919-86AD-0914-E3BC67A3101A}"/>
              </a:ext>
            </a:extLst>
          </p:cNvPr>
          <p:cNvSpPr txBox="1"/>
          <p:nvPr/>
        </p:nvSpPr>
        <p:spPr>
          <a:xfrm>
            <a:off x="113053" y="102870"/>
            <a:ext cx="87466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200" dirty="0">
                <a:highlight>
                  <a:srgbClr val="FFFF00"/>
                </a:highlight>
              </a:rPr>
              <a:t>gpath</a:t>
            </a:r>
          </a:p>
        </p:txBody>
      </p:sp>
    </p:spTree>
    <p:extLst>
      <p:ext uri="{BB962C8B-B14F-4D97-AF65-F5344CB8AC3E}">
        <p14:creationId xmlns:p14="http://schemas.microsoft.com/office/powerpoint/2010/main" val="916099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A5AF9-030D-F4B0-FAFF-5B49AC460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72ED10-0347-8444-4404-E4C892D988C4}"/>
              </a:ext>
            </a:extLst>
          </p:cNvPr>
          <p:cNvSpPr txBox="1"/>
          <p:nvPr/>
        </p:nvSpPr>
        <p:spPr>
          <a:xfrm>
            <a:off x="113053" y="102870"/>
            <a:ext cx="87466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200" dirty="0">
                <a:highlight>
                  <a:srgbClr val="FFFF00"/>
                </a:highlight>
              </a:rPr>
              <a:t>gpath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D8EE81-29F4-70F7-2BC8-15B86EF3C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6" y="732542"/>
            <a:ext cx="12078947" cy="577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838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F478D-DA32-B2E0-C2E7-EE5E04975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B8B95D-3AF1-DB69-1C79-B3B2BE86E9C4}"/>
              </a:ext>
            </a:extLst>
          </p:cNvPr>
          <p:cNvSpPr txBox="1"/>
          <p:nvPr/>
        </p:nvSpPr>
        <p:spPr>
          <a:xfrm>
            <a:off x="113053" y="102870"/>
            <a:ext cx="11739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200" dirty="0">
                <a:highlight>
                  <a:srgbClr val="FFFF00"/>
                </a:highlight>
              </a:rPr>
              <a:t>Amyloid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C233D0-D598-9125-5DA1-065C34464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2910"/>
            <a:ext cx="12192000" cy="553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314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7CEDC-40ED-E28B-3F5A-71849DE40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125DD5-62FD-47CF-28D9-8FF17E996E3A}"/>
              </a:ext>
            </a:extLst>
          </p:cNvPr>
          <p:cNvSpPr txBox="1"/>
          <p:nvPr/>
        </p:nvSpPr>
        <p:spPr>
          <a:xfrm>
            <a:off x="113053" y="102870"/>
            <a:ext cx="11739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200" dirty="0">
                <a:highlight>
                  <a:srgbClr val="FFFF00"/>
                </a:highlight>
              </a:rPr>
              <a:t>Amyloid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5C345F-BB79-179F-9158-8337B91CD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6" y="875975"/>
            <a:ext cx="12078947" cy="544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907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0D582-9CC1-B067-9FAB-4C762527E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6B40C7-CF81-D91E-4650-0B90A74D86E3}"/>
              </a:ext>
            </a:extLst>
          </p:cNvPr>
          <p:cNvSpPr txBox="1"/>
          <p:nvPr/>
        </p:nvSpPr>
        <p:spPr>
          <a:xfrm>
            <a:off x="113053" y="102870"/>
            <a:ext cx="5181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200" dirty="0">
                <a:highlight>
                  <a:srgbClr val="FFFF00"/>
                </a:highlight>
              </a:rPr>
              <a:t>nft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1D7532-0337-B64F-5EF4-FF28140D1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96" y="898747"/>
            <a:ext cx="12054608" cy="542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575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4419F-9F46-5432-6D51-1E8F0AD5B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904469-14EB-5A00-F92F-322B27D47ECA}"/>
              </a:ext>
            </a:extLst>
          </p:cNvPr>
          <p:cNvSpPr txBox="1"/>
          <p:nvPr/>
        </p:nvSpPr>
        <p:spPr>
          <a:xfrm>
            <a:off x="113053" y="102870"/>
            <a:ext cx="5181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200" dirty="0">
                <a:highlight>
                  <a:srgbClr val="FFFF00"/>
                </a:highlight>
              </a:rPr>
              <a:t>nft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407372-03E3-ABB0-BCB0-709A94339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52" y="779218"/>
            <a:ext cx="11726696" cy="529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463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40F33-6116-D93D-8DAA-A09528687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55D405-11BA-AB04-C6AA-693BD34D04CF}"/>
              </a:ext>
            </a:extLst>
          </p:cNvPr>
          <p:cNvSpPr txBox="1"/>
          <p:nvPr/>
        </p:nvSpPr>
        <p:spPr>
          <a:xfrm>
            <a:off x="113053" y="102870"/>
            <a:ext cx="10780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200" dirty="0">
                <a:highlight>
                  <a:srgbClr val="FFFF00"/>
                </a:highlight>
              </a:rPr>
              <a:t>tangles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6C41A6-87BB-7A43-897F-5A5417F83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10" y="916348"/>
            <a:ext cx="11920979" cy="537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3880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D3C88-7337-C697-A821-295009466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1F3D86-A510-4D4F-F82F-9B8AB15D6587}"/>
              </a:ext>
            </a:extLst>
          </p:cNvPr>
          <p:cNvSpPr txBox="1"/>
          <p:nvPr/>
        </p:nvSpPr>
        <p:spPr>
          <a:xfrm>
            <a:off x="113053" y="102870"/>
            <a:ext cx="10780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200" dirty="0">
                <a:highlight>
                  <a:srgbClr val="FFFF00"/>
                </a:highlight>
              </a:rPr>
              <a:t>tangles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5CE068-B3AF-734E-1195-A17DBF8CA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61" y="899508"/>
            <a:ext cx="11958278" cy="539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138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C0AF8-C577-5643-40D9-A43E034FA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C33F58-5FE7-CAF4-91F8-457463675BAC}"/>
              </a:ext>
            </a:extLst>
          </p:cNvPr>
          <p:cNvSpPr txBox="1"/>
          <p:nvPr/>
        </p:nvSpPr>
        <p:spPr>
          <a:xfrm>
            <a:off x="113053" y="102870"/>
            <a:ext cx="101502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highlight>
                  <a:srgbClr val="FFFF00"/>
                </a:highlight>
              </a:rPr>
              <a:t>p</a:t>
            </a:r>
            <a:r>
              <a:rPr lang="en-CN" sz="2200" dirty="0">
                <a:highlight>
                  <a:srgbClr val="FFFF00"/>
                </a:highlight>
              </a:rPr>
              <a:t>laq_d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48B058-7F5F-86B5-F1DC-02883C51A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6" y="869328"/>
            <a:ext cx="12078947" cy="5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927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0200-D259-4D31-E4E5-333338AE5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644E38-66D5-DF01-9113-200FD1B74B19}"/>
              </a:ext>
            </a:extLst>
          </p:cNvPr>
          <p:cNvSpPr txBox="1"/>
          <p:nvPr/>
        </p:nvSpPr>
        <p:spPr>
          <a:xfrm>
            <a:off x="113053" y="102870"/>
            <a:ext cx="101502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highlight>
                  <a:srgbClr val="FFFF00"/>
                </a:highlight>
              </a:rPr>
              <a:t>p</a:t>
            </a:r>
            <a:r>
              <a:rPr lang="en-CN" sz="2200" dirty="0">
                <a:highlight>
                  <a:srgbClr val="FFFF00"/>
                </a:highlight>
              </a:rPr>
              <a:t>laq_d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359904-703E-10BC-28E4-D66ACBD49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22" y="1159924"/>
            <a:ext cx="11846755" cy="532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8953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EA8CB-F529-6105-CB5C-937486EB4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54ED19-1895-9C05-499B-E08862D788B3}"/>
              </a:ext>
            </a:extLst>
          </p:cNvPr>
          <p:cNvSpPr txBox="1"/>
          <p:nvPr/>
        </p:nvSpPr>
        <p:spPr>
          <a:xfrm>
            <a:off x="113053" y="102870"/>
            <a:ext cx="10118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highlight>
                  <a:srgbClr val="FFFF00"/>
                </a:highlight>
              </a:rPr>
              <a:t>p</a:t>
            </a:r>
            <a:r>
              <a:rPr lang="en-CN" sz="2200" dirty="0">
                <a:highlight>
                  <a:srgbClr val="FFFF00"/>
                </a:highlight>
              </a:rPr>
              <a:t>laq_n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2F4526-1E1B-0BE7-B0AE-B58D878BF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8" y="1057934"/>
            <a:ext cx="12158303" cy="510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1710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34CA-241A-3F20-70AD-16E8BC1CB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2BDEBF-D56C-5167-F88D-5D642424F69C}"/>
              </a:ext>
            </a:extLst>
          </p:cNvPr>
          <p:cNvSpPr txBox="1"/>
          <p:nvPr/>
        </p:nvSpPr>
        <p:spPr>
          <a:xfrm>
            <a:off x="113053" y="102870"/>
            <a:ext cx="10118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highlight>
                  <a:srgbClr val="FFFF00"/>
                </a:highlight>
              </a:rPr>
              <a:t>p</a:t>
            </a:r>
            <a:r>
              <a:rPr lang="en-CN" sz="2200" dirty="0">
                <a:highlight>
                  <a:srgbClr val="FFFF00"/>
                </a:highlight>
              </a:rPr>
              <a:t>laq_n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AA9CA9-3F2F-AED3-BAFB-2A2F133C7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22" y="1078607"/>
            <a:ext cx="12079156" cy="505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038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ED030-2D34-E896-8F63-882855736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72B33B-ADED-C70B-B29C-0AB889FA2CC9}"/>
              </a:ext>
            </a:extLst>
          </p:cNvPr>
          <p:cNvSpPr txBox="1"/>
          <p:nvPr/>
        </p:nvSpPr>
        <p:spPr>
          <a:xfrm>
            <a:off x="113053" y="102870"/>
            <a:ext cx="19896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>
                <a:highlight>
                  <a:srgbClr val="FFFF00"/>
                </a:highlight>
              </a:rPr>
              <a:t>cogn_global_lv</a:t>
            </a:r>
            <a:endParaRPr lang="en-CN" sz="2200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571521-E7F3-9179-408C-90C1863B5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4" y="1337400"/>
            <a:ext cx="12038871" cy="466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4693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1CD66-4DB6-ECCD-3D2E-FFB493F5F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39BF36-1FEB-4B96-8221-18FAC36A6424}"/>
              </a:ext>
            </a:extLst>
          </p:cNvPr>
          <p:cNvSpPr txBox="1"/>
          <p:nvPr/>
        </p:nvSpPr>
        <p:spPr>
          <a:xfrm>
            <a:off x="113053" y="102870"/>
            <a:ext cx="19896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>
                <a:highlight>
                  <a:srgbClr val="FFFF00"/>
                </a:highlight>
              </a:rPr>
              <a:t>cogn_global_lv</a:t>
            </a:r>
            <a:endParaRPr lang="en-CN" sz="2200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0A7C38-D949-4EEA-4F7F-B9E55E23A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72" y="1139642"/>
            <a:ext cx="12027655" cy="433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916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4A157-87AD-E367-EB7A-F5D086668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60862D-E1E6-6E2F-D685-CA3E5773B76F}"/>
              </a:ext>
            </a:extLst>
          </p:cNvPr>
          <p:cNvSpPr txBox="1"/>
          <p:nvPr/>
        </p:nvSpPr>
        <p:spPr>
          <a:xfrm>
            <a:off x="113053" y="102870"/>
            <a:ext cx="28616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>
                <a:highlight>
                  <a:srgbClr val="FFFF00"/>
                </a:highlight>
              </a:rPr>
              <a:t>cognep_demog_slope</a:t>
            </a:r>
            <a:endParaRPr lang="en-CN" sz="2200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3F946D-131E-946D-DAA8-1F450C6AE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50" y="830004"/>
            <a:ext cx="11809900" cy="565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2636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4E165-EC6A-C16F-5023-39C0CD55E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92762A-A4ED-E5AF-AAEE-E030420C10C3}"/>
              </a:ext>
            </a:extLst>
          </p:cNvPr>
          <p:cNvSpPr txBox="1"/>
          <p:nvPr/>
        </p:nvSpPr>
        <p:spPr>
          <a:xfrm>
            <a:off x="113053" y="102870"/>
            <a:ext cx="28616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>
                <a:highlight>
                  <a:srgbClr val="FFFF00"/>
                </a:highlight>
              </a:rPr>
              <a:t>cognep_demog_slope</a:t>
            </a:r>
            <a:endParaRPr lang="en-CN" sz="2200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4009CD-52AF-979D-7203-F1A5C824F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18" y="1045507"/>
            <a:ext cx="11956963" cy="541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0210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79F37-A19E-B62F-C94F-F48EA3234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64BB84-ED8F-6790-CA5D-F0F6685D4B98}"/>
              </a:ext>
            </a:extLst>
          </p:cNvPr>
          <p:cNvSpPr txBox="1"/>
          <p:nvPr/>
        </p:nvSpPr>
        <p:spPr>
          <a:xfrm>
            <a:off x="113053" y="102870"/>
            <a:ext cx="26901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>
                <a:highlight>
                  <a:srgbClr val="FFFF00"/>
                </a:highlight>
              </a:rPr>
              <a:t>cogng_demog_slope</a:t>
            </a:r>
            <a:endParaRPr lang="en-CN" sz="2200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169B4D-8168-78E5-0A89-C2EAD9A9A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4" y="987698"/>
            <a:ext cx="12013811" cy="538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9776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A94B3-B1FE-C2B5-A88D-8DCD691F8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82347F-518D-0F0A-D819-F7D140447C0F}"/>
              </a:ext>
            </a:extLst>
          </p:cNvPr>
          <p:cNvSpPr txBox="1"/>
          <p:nvPr/>
        </p:nvSpPr>
        <p:spPr>
          <a:xfrm>
            <a:off x="113053" y="102870"/>
            <a:ext cx="26901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>
                <a:highlight>
                  <a:srgbClr val="FFFF00"/>
                </a:highlight>
              </a:rPr>
              <a:t>cogng_demog_slope</a:t>
            </a:r>
            <a:endParaRPr lang="en-CN" sz="2200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BB71F1-8A04-E88C-9B79-1DE561BF8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78" y="713105"/>
            <a:ext cx="12070644" cy="5431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9177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8D77A-3737-E69F-E634-4C0F81227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4FB681-EA11-9CE3-8D42-F0572F37AE50}"/>
              </a:ext>
            </a:extLst>
          </p:cNvPr>
          <p:cNvSpPr txBox="1"/>
          <p:nvPr/>
        </p:nvSpPr>
        <p:spPr>
          <a:xfrm>
            <a:off x="113053" y="102870"/>
            <a:ext cx="28680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>
                <a:highlight>
                  <a:srgbClr val="FFFF00"/>
                </a:highlight>
              </a:rPr>
              <a:t>cognpo_demog_slope</a:t>
            </a:r>
            <a:endParaRPr lang="en-CN" sz="2200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3BFA7-F831-48BD-9936-71192C016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813" y="1576587"/>
            <a:ext cx="10008374" cy="421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9986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6CAA8-2F66-908B-0436-893861FA7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6BEF49-EA40-6A3A-7D5F-C0129077EF83}"/>
              </a:ext>
            </a:extLst>
          </p:cNvPr>
          <p:cNvSpPr txBox="1"/>
          <p:nvPr/>
        </p:nvSpPr>
        <p:spPr>
          <a:xfrm>
            <a:off x="113053" y="102870"/>
            <a:ext cx="28680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>
                <a:highlight>
                  <a:srgbClr val="FFFF00"/>
                </a:highlight>
              </a:rPr>
              <a:t>cognpo_demog_slope</a:t>
            </a:r>
            <a:endParaRPr lang="en-CN" sz="2200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80C67F-056A-A6AA-E077-0E2C330B9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2" y="1118734"/>
            <a:ext cx="12025749" cy="506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7556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42888-D663-F946-AD41-3A2F22BE3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C2D459-4069-FFD1-5AAD-3569B6E33AD4}"/>
              </a:ext>
            </a:extLst>
          </p:cNvPr>
          <p:cNvSpPr txBox="1"/>
          <p:nvPr/>
        </p:nvSpPr>
        <p:spPr>
          <a:xfrm>
            <a:off x="113053" y="102870"/>
            <a:ext cx="28680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>
                <a:highlight>
                  <a:srgbClr val="FFFF00"/>
                </a:highlight>
              </a:rPr>
              <a:t>cognps_demog_slope</a:t>
            </a:r>
            <a:endParaRPr lang="en-CN" sz="2200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A7E5FD-A553-6F95-AC4A-EFE21F60D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61" y="1051263"/>
            <a:ext cx="12081478" cy="475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5003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2474E-CED9-CC01-2C91-AC440FD9B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D6DD4F-E7B4-9C9B-8500-2B23D5DB4121}"/>
              </a:ext>
            </a:extLst>
          </p:cNvPr>
          <p:cNvSpPr txBox="1"/>
          <p:nvPr/>
        </p:nvSpPr>
        <p:spPr>
          <a:xfrm>
            <a:off x="113053" y="102870"/>
            <a:ext cx="28680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>
                <a:highlight>
                  <a:srgbClr val="FFFF00"/>
                </a:highlight>
              </a:rPr>
              <a:t>cognps_demog_slope</a:t>
            </a:r>
            <a:endParaRPr lang="en-CN" sz="2200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3C281A-6E38-5B38-8E6C-C89797E99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3" y="1076514"/>
            <a:ext cx="12050884" cy="470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01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61550-2C82-08D4-0646-581054495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709CEF-CB75-5D95-A631-04B25AC0A0D9}"/>
              </a:ext>
            </a:extLst>
          </p:cNvPr>
          <p:cNvSpPr txBox="1"/>
          <p:nvPr/>
        </p:nvSpPr>
        <p:spPr>
          <a:xfrm>
            <a:off x="113053" y="102870"/>
            <a:ext cx="28680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>
                <a:highlight>
                  <a:srgbClr val="FFFF00"/>
                </a:highlight>
              </a:rPr>
              <a:t>cognse_demog_slope</a:t>
            </a:r>
            <a:endParaRPr lang="en-CN" sz="2200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2D1305-176C-88CF-63C1-140B98891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7" y="1065881"/>
            <a:ext cx="12138426" cy="472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9873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70B30-7BFE-34CB-71C5-6A1B840BF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B1FECD-70DE-174B-97BA-923D02F58F11}"/>
              </a:ext>
            </a:extLst>
          </p:cNvPr>
          <p:cNvSpPr txBox="1"/>
          <p:nvPr/>
        </p:nvSpPr>
        <p:spPr>
          <a:xfrm>
            <a:off x="113053" y="102870"/>
            <a:ext cx="28680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>
                <a:highlight>
                  <a:srgbClr val="FFFF00"/>
                </a:highlight>
              </a:rPr>
              <a:t>cognse_demog_slope</a:t>
            </a:r>
            <a:endParaRPr lang="en-CN" sz="2200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474CBD-4FA0-8DBA-2468-7F027C903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5" y="1062770"/>
            <a:ext cx="12004290" cy="473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7647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B226C-F369-DEE2-8B14-0BB79853A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69DADE-8172-DAAE-8E44-2E76F4C998C7}"/>
              </a:ext>
            </a:extLst>
          </p:cNvPr>
          <p:cNvSpPr txBox="1"/>
          <p:nvPr/>
        </p:nvSpPr>
        <p:spPr>
          <a:xfrm>
            <a:off x="113053" y="102870"/>
            <a:ext cx="29088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>
                <a:highlight>
                  <a:srgbClr val="FFFF00"/>
                </a:highlight>
              </a:rPr>
              <a:t>cognwo_demog_slope</a:t>
            </a:r>
            <a:endParaRPr lang="en-CN" sz="2200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7602ED-8B87-9717-BD65-1C69AAC51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0" y="1079689"/>
            <a:ext cx="12034619" cy="4698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7527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8C3AC-C7E2-3136-8939-EF542175B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2B1CA0-8601-3A5F-B541-6375A08FF78C}"/>
              </a:ext>
            </a:extLst>
          </p:cNvPr>
          <p:cNvSpPr txBox="1"/>
          <p:nvPr/>
        </p:nvSpPr>
        <p:spPr>
          <a:xfrm>
            <a:off x="113053" y="102870"/>
            <a:ext cx="29088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>
                <a:highlight>
                  <a:srgbClr val="FFFF00"/>
                </a:highlight>
              </a:rPr>
              <a:t>cognwo_demog_slope</a:t>
            </a:r>
            <a:endParaRPr lang="en-CN" sz="2200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31340B-9FA5-C2C9-9268-765FB4F03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22" y="1079039"/>
            <a:ext cx="12078155" cy="469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9678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BEF48-FBAA-29D3-EB6E-863676780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03B15C-AB9B-A348-1781-2BB8141A5E1B}"/>
              </a:ext>
            </a:extLst>
          </p:cNvPr>
          <p:cNvSpPr txBox="1"/>
          <p:nvPr/>
        </p:nvSpPr>
        <p:spPr>
          <a:xfrm>
            <a:off x="113053" y="102870"/>
            <a:ext cx="136223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>
                <a:highlight>
                  <a:srgbClr val="FFFF00"/>
                </a:highlight>
              </a:rPr>
              <a:t>CR_score</a:t>
            </a:r>
            <a:endParaRPr lang="en-CN" sz="2200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51053D-3E4B-EB61-17F3-6C6CB12AA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4" y="1068905"/>
            <a:ext cx="12069832" cy="472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2325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DDF7D-8B10-6DFC-AFC8-39C5C34A8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19F9AE-E82C-31E9-9D7A-3B2147C740AE}"/>
              </a:ext>
            </a:extLst>
          </p:cNvPr>
          <p:cNvSpPr txBox="1"/>
          <p:nvPr/>
        </p:nvSpPr>
        <p:spPr>
          <a:xfrm>
            <a:off x="113053" y="102870"/>
            <a:ext cx="136223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>
                <a:highlight>
                  <a:srgbClr val="FFFF00"/>
                </a:highlight>
              </a:rPr>
              <a:t>CR_score</a:t>
            </a:r>
            <a:endParaRPr lang="en-CN" sz="2200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72F3DA-AB7E-D59E-C00C-2EFC11FD8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2" y="1155050"/>
            <a:ext cx="12076116" cy="473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9254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B957F0-BF37-90FB-5C80-E6A71DD86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499" y="369332"/>
            <a:ext cx="9733002" cy="64886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C236C9-241A-8349-89DB-301E5A654209}"/>
              </a:ext>
            </a:extLst>
          </p:cNvPr>
          <p:cNvSpPr txBox="1"/>
          <p:nvPr/>
        </p:nvSpPr>
        <p:spPr>
          <a:xfrm>
            <a:off x="0" y="0"/>
            <a:ext cx="3460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Heatmap for </a:t>
            </a:r>
            <a:r>
              <a:rPr lang="en-US" dirty="0">
                <a:highlight>
                  <a:srgbClr val="FFFF00"/>
                </a:highlight>
              </a:rPr>
              <a:t>gpath</a:t>
            </a:r>
            <a:r>
              <a:rPr lang="en-US" dirty="0"/>
              <a:t>, sig. mt genes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5737798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4B162-635C-B5B9-1C01-08D714173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2629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2416</TotalTime>
  <Words>162</Words>
  <Application>Microsoft Macintosh PowerPoint</Application>
  <PresentationFormat>Widescreen</PresentationFormat>
  <Paragraphs>51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Aptos</vt:lpstr>
      <vt:lpstr>Aptos Display</vt:lpstr>
      <vt:lpstr>Arial</vt:lpstr>
      <vt:lpstr>Office Theme</vt:lpstr>
      <vt:lpstr>Mt-AD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Kathy</dc:creator>
  <cp:lastModifiedBy>Liu, Kathy</cp:lastModifiedBy>
  <cp:revision>5</cp:revision>
  <dcterms:created xsi:type="dcterms:W3CDTF">2025-10-02T03:24:05Z</dcterms:created>
  <dcterms:modified xsi:type="dcterms:W3CDTF">2025-11-17T05:36:56Z</dcterms:modified>
</cp:coreProperties>
</file>